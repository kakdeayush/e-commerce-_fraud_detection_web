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6" r:id="rId4"/>
    <p:sldId id="258" r:id="rId5"/>
    <p:sldId id="267" r:id="rId6"/>
    <p:sldId id="268" r:id="rId7"/>
    <p:sldId id="269" r:id="rId8"/>
    <p:sldId id="259" r:id="rId9"/>
    <p:sldId id="270" r:id="rId10"/>
    <p:sldId id="271" r:id="rId11"/>
    <p:sldId id="272" r:id="rId12"/>
    <p:sldId id="260" r:id="rId13"/>
    <p:sldId id="273" r:id="rId14"/>
    <p:sldId id="274" r:id="rId15"/>
    <p:sldId id="275" r:id="rId16"/>
    <p:sldId id="261" r:id="rId17"/>
    <p:sldId id="276" r:id="rId18"/>
    <p:sldId id="277" r:id="rId19"/>
    <p:sldId id="278" r:id="rId20"/>
    <p:sldId id="279" r:id="rId21"/>
    <p:sldId id="262" r:id="rId22"/>
    <p:sldId id="263" r:id="rId23"/>
    <p:sldId id="264" r:id="rId24"/>
    <p:sldId id="265"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1D8BD707-D9CF-40AE-B4C6-C98DA3205C09}" type="datetimeFigureOut">
              <a:rPr lang="en-US" smtClean="0"/>
              <a:pPr/>
              <a:t>9/21/2024</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1D8BD707-D9CF-40AE-B4C6-C98DA3205C09}" type="datetimeFigureOut">
              <a:rPr lang="en-US" smtClean="0"/>
              <a:pPr/>
              <a:t>9/21/2024</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1D8BD707-D9CF-40AE-B4C6-C98DA3205C09}" type="datetimeFigureOut">
              <a:rPr lang="en-US" smtClean="0"/>
              <a:pPr/>
              <a:t>9/21/2024</a:t>
            </a:fld>
            <a:endParaRPr lang="en-US"/>
          </a:p>
        </p:txBody>
      </p:sp>
      <p:sp>
        <p:nvSpPr>
          <p:cNvPr id="10" name="Slide Number Placeholder 9"/>
          <p:cNvSpPr>
            <a:spLocks noGrp="1"/>
          </p:cNvSpPr>
          <p:nvPr>
            <p:ph type="sldNum" sz="quarter" idx="16"/>
          </p:nvPr>
        </p:nvSpPr>
        <p:spPr/>
        <p:txBody>
          <a:bodyPr rtlCol="0"/>
          <a:lstStyle/>
          <a:p>
            <a:fld id="{B6F15528-21DE-4FAA-801E-634DDDAF4B2B}"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1D8BD707-D9CF-40AE-B4C6-C98DA3205C09}" type="datetimeFigureOut">
              <a:rPr lang="en-US" smtClean="0"/>
              <a:pPr/>
              <a:t>9/21/2024</a:t>
            </a:fld>
            <a:endParaRPr lang="en-US"/>
          </a:p>
        </p:txBody>
      </p:sp>
      <p:sp>
        <p:nvSpPr>
          <p:cNvPr id="12" name="Slide Number Placeholder 11"/>
          <p:cNvSpPr>
            <a:spLocks noGrp="1"/>
          </p:cNvSpPr>
          <p:nvPr>
            <p:ph type="sldNum" sz="quarter" idx="16"/>
          </p:nvPr>
        </p:nvSpPr>
        <p:spPr/>
        <p:txBody>
          <a:bodyPr rtlCol="0"/>
          <a:lstStyle/>
          <a:p>
            <a:fld id="{B6F15528-21DE-4FAA-801E-634DDDAF4B2B}"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9/21/2024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9/21/2024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1D8BD707-D9CF-40AE-B4C6-C98DA3205C09}" type="datetimeFigureOut">
              <a:rPr lang="en-US" smtClean="0"/>
              <a:pPr/>
              <a:t>9/21/2024</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1D8BD707-D9CF-40AE-B4C6-C98DA3205C09}" type="datetimeFigureOut">
              <a:rPr lang="en-US" smtClean="0"/>
              <a:pPr/>
              <a:t>9/21/2024</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1D8BD707-D9CF-40AE-B4C6-C98DA3205C09}" type="datetimeFigureOut">
              <a:rPr lang="en-US" smtClean="0"/>
              <a:pPr/>
              <a:t>9/21/2024</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a:r>
              <a:rPr lang="en-US" b="1" dirty="0"/>
              <a:t>E-Commerce Fraud Detection Based on Machine Learning</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ABSTRACT</a:t>
            </a:r>
            <a:endParaRPr lang="en-US" dirty="0"/>
          </a:p>
        </p:txBody>
      </p:sp>
      <p:sp>
        <p:nvSpPr>
          <p:cNvPr id="3" name="Content Placeholder 2"/>
          <p:cNvSpPr>
            <a:spLocks noGrp="1"/>
          </p:cNvSpPr>
          <p:nvPr>
            <p:ph sz="quarter" idx="1"/>
          </p:nvPr>
        </p:nvSpPr>
        <p:spPr/>
        <p:txBody>
          <a:bodyPr>
            <a:normAutofit fontScale="77500" lnSpcReduction="20000"/>
          </a:bodyPr>
          <a:lstStyle/>
          <a:p>
            <a:pPr algn="just"/>
            <a:r>
              <a:rPr lang="en-US" dirty="0"/>
              <a:t>The project titled "E-Commerce Fraud Detection Based on Machine Learning" addresses the critical challenge of identifying fraudulent transactions in e-commerce platforms. Developed using Python for backend processing and HTML, CSS, and JavaScript for the frontend interface, the system is integrated within the Flask web framework to deliver a responsive and interactive user experience.</a:t>
            </a:r>
            <a:endParaRPr lang="en-IN" dirty="0"/>
          </a:p>
          <a:p>
            <a:pPr algn="just"/>
            <a:r>
              <a:rPr lang="en-US" dirty="0"/>
              <a:t>The project leverages two advanced machine learning models: a Stacking Classifier and an XGB Classifier. The Stacking Classifier achieves an impressive train accuracy of 100% and a test accuracy of 99%, while the XGB Classifier attains a train accuracy of 96% and a test accuracy of 95%. These high performance metrics underscore the models' effectiveness in distinguishing between legitimate and fraudulent transactions.</a:t>
            </a:r>
            <a:endParaRPr lang="en-IN" dirty="0"/>
          </a:p>
          <a:p>
            <a:pPr algn="just"/>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fontScale="85000" lnSpcReduction="20000"/>
          </a:bodyPr>
          <a:lstStyle/>
          <a:p>
            <a:pPr algn="just"/>
            <a:r>
              <a:rPr lang="en-US" dirty="0"/>
              <a:t>The dataset utilized comprises 23,634 synthetic records generated through Python's Faker library, enriched with custom logic to emulate realistic transaction patterns and fraudulent scenarios. The dataset includes 16 features such as Transaction ID, Customer ID, Transaction Amount, Payment Method, and a binary indicator for fraudulent activity, among others. These features collectively capture the intricacies of transaction behaviors and customer profiles, enabling robust fraud detection.</a:t>
            </a:r>
            <a:endParaRPr lang="en-IN" dirty="0"/>
          </a:p>
          <a:p>
            <a:pPr algn="just"/>
            <a:r>
              <a:rPr lang="en-US" dirty="0"/>
              <a:t>The project's results demonstrate the potential of machine learning techniques in enhancing security and trust in e-commerce environments, providing a powerful tool for preventing financial loss due to fraudulent activities.</a:t>
            </a:r>
            <a:endParaRPr lang="en-IN" dirty="0"/>
          </a:p>
          <a:p>
            <a:pPr algn="just"/>
            <a:endParaRPr lang="en-IN" dirty="0"/>
          </a:p>
        </p:txBody>
      </p:sp>
    </p:spTree>
    <p:extLst>
      <p:ext uri="{BB962C8B-B14F-4D97-AF65-F5344CB8AC3E}">
        <p14:creationId xmlns:p14="http://schemas.microsoft.com/office/powerpoint/2010/main" val="14126018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EXISTING SYSTEM</a:t>
            </a:r>
            <a:endParaRPr lang="en-US" dirty="0"/>
          </a:p>
        </p:txBody>
      </p:sp>
      <p:sp>
        <p:nvSpPr>
          <p:cNvPr id="3" name="Content Placeholder 2"/>
          <p:cNvSpPr>
            <a:spLocks noGrp="1"/>
          </p:cNvSpPr>
          <p:nvPr>
            <p:ph sz="quarter" idx="1"/>
          </p:nvPr>
        </p:nvSpPr>
        <p:spPr/>
        <p:txBody>
          <a:bodyPr>
            <a:normAutofit fontScale="77500" lnSpcReduction="20000"/>
          </a:bodyPr>
          <a:lstStyle/>
          <a:p>
            <a:pPr lvl="0" algn="just"/>
            <a:r>
              <a:rPr lang="en-US" dirty="0"/>
              <a:t>The existing system's approach to understanding e-commerce fraud detection involved a meticulous literature review, drawing from a wide array of studies and research papers. Using the PRISMA framework, the research systematically identified relevant articles, ensuring a comprehensive and unbiased selection process. The content synthesis method was then applied to distill and categorize the findings from these articles, providing a structured overview of the current landscape in fraud detection methodologies.</a:t>
            </a:r>
            <a:endParaRPr lang="en-IN" dirty="0"/>
          </a:p>
          <a:p>
            <a:pPr lvl="0" algn="just"/>
            <a:r>
              <a:rPr lang="en-US" dirty="0"/>
              <a:t>The analysis focused on clustering the reviewed articles into distinct groups based on the machine learning and data mining techniques they employed. The use of mainstream machine learning algorithms such as Artificial Neural Networks (ANNs) and Random Forests was particularly notable. These algorithms were extensively studied and applied across the literature, reflecting their widespread acceptance and effectiveness in detecting fraudulent activities within e-commerce platforms.</a:t>
            </a:r>
            <a:endParaRPr lang="en-IN" dirty="0"/>
          </a:p>
          <a:p>
            <a:pPr algn="just"/>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fontScale="85000" lnSpcReduction="20000"/>
          </a:bodyPr>
          <a:lstStyle/>
          <a:p>
            <a:pPr lvl="0" algn="just"/>
            <a:r>
              <a:rPr lang="en-US" dirty="0"/>
              <a:t>The system's research was driven by four core questions, designed to guide the exploration and synthesis of the selected literature. The initial questions set the stage by establishing the context and scope of the research, while the main question delved into the specifics of fraud detection techniques. This structured inquiry facilitated a deep understanding of the algorithms' application, strengths, and trends in the field.</a:t>
            </a:r>
            <a:endParaRPr lang="en-IN" dirty="0"/>
          </a:p>
          <a:p>
            <a:pPr lvl="0" algn="just"/>
            <a:r>
              <a:rPr lang="en-US" dirty="0"/>
              <a:t>The review highlighted a significant focus on credit card fraud detection, which emerged as a central theme across the majority of studies. This emphasis illustrates the critical nature of credit card fraud within the e-commerce domain, driving much of the innovation and research in fraud detection technologies.</a:t>
            </a:r>
            <a:endParaRPr lang="en-IN" dirty="0"/>
          </a:p>
          <a:p>
            <a:pPr algn="just"/>
            <a:endParaRPr lang="en-IN" dirty="0"/>
          </a:p>
        </p:txBody>
      </p:sp>
    </p:spTree>
    <p:extLst>
      <p:ext uri="{BB962C8B-B14F-4D97-AF65-F5344CB8AC3E}">
        <p14:creationId xmlns:p14="http://schemas.microsoft.com/office/powerpoint/2010/main" val="344298713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fontScale="85000" lnSpcReduction="20000"/>
          </a:bodyPr>
          <a:lstStyle/>
          <a:p>
            <a:pPr lvl="0" algn="just"/>
            <a:r>
              <a:rPr lang="en-US" dirty="0"/>
              <a:t>The findings from the literature review revealed that Artificial Neural Networks (ANNs) were the most frequently employed algorithm in the reviewed studies. ANNs are known for their ability to model complex patterns and relationships within data, making them a powerful tool in fraud detection. Their prominence in the literature underscores their efficacy in identifying fraudulent transactions with high accuracy.</a:t>
            </a:r>
            <a:endParaRPr lang="en-IN" dirty="0"/>
          </a:p>
          <a:p>
            <a:pPr lvl="0" algn="just"/>
            <a:r>
              <a:rPr lang="en-US" dirty="0"/>
              <a:t>Random Forests, another popular algorithm, were also widely used due to their robustness and ability to handle large datasets with multiple features. The versatility and performance of Random Forests make them a preferred choice for researchers and practitioners in the e-commerce fraud detection field.</a:t>
            </a:r>
            <a:endParaRPr lang="en-IN" dirty="0"/>
          </a:p>
          <a:p>
            <a:pPr algn="just"/>
            <a:endParaRPr lang="en-IN" dirty="0"/>
          </a:p>
        </p:txBody>
      </p:sp>
    </p:spTree>
    <p:extLst>
      <p:ext uri="{BB962C8B-B14F-4D97-AF65-F5344CB8AC3E}">
        <p14:creationId xmlns:p14="http://schemas.microsoft.com/office/powerpoint/2010/main" val="2808033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pPr lvl="0" algn="just"/>
            <a:r>
              <a:rPr lang="en-US" dirty="0"/>
              <a:t>The review also touched upon other techniques, including </a:t>
            </a:r>
            <a:r>
              <a:rPr lang="en-US" dirty="0" err="1"/>
              <a:t>unclustered</a:t>
            </a:r>
            <a:r>
              <a:rPr lang="en-US" dirty="0"/>
              <a:t> data mining methods, which, although less common, provide additional insights into alternative approaches to fraud detection. These techniques contribute to a broader understanding of the diverse methodologies that can be applied to combat e-commerce fraud.</a:t>
            </a:r>
            <a:endParaRPr lang="en-IN" dirty="0"/>
          </a:p>
          <a:p>
            <a:pPr algn="just"/>
            <a:endParaRPr lang="en-IN" dirty="0"/>
          </a:p>
        </p:txBody>
      </p:sp>
    </p:spTree>
    <p:extLst>
      <p:ext uri="{BB962C8B-B14F-4D97-AF65-F5344CB8AC3E}">
        <p14:creationId xmlns:p14="http://schemas.microsoft.com/office/powerpoint/2010/main" val="327441515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DISADVANTAGES OF EXISTING SYSTEM</a:t>
            </a:r>
            <a:endParaRPr lang="en-US" dirty="0"/>
          </a:p>
        </p:txBody>
      </p:sp>
      <p:sp>
        <p:nvSpPr>
          <p:cNvPr id="3" name="Content Placeholder 2"/>
          <p:cNvSpPr>
            <a:spLocks noGrp="1"/>
          </p:cNvSpPr>
          <p:nvPr>
            <p:ph sz="quarter" idx="1"/>
          </p:nvPr>
        </p:nvSpPr>
        <p:spPr/>
        <p:txBody>
          <a:bodyPr>
            <a:normAutofit fontScale="77500" lnSpcReduction="20000"/>
          </a:bodyPr>
          <a:lstStyle/>
          <a:p>
            <a:pPr lvl="0" algn="just"/>
            <a:r>
              <a:rPr lang="en-US" dirty="0"/>
              <a:t>Limited Focus on </a:t>
            </a:r>
            <a:r>
              <a:rPr lang="en-US" dirty="0" err="1"/>
              <a:t>Unclustered</a:t>
            </a:r>
            <a:r>
              <a:rPr lang="en-US" dirty="0"/>
              <a:t> Techniques: The existing system categorized 16 out of 101 articles as "other" due to their use of </a:t>
            </a:r>
            <a:r>
              <a:rPr lang="en-US" dirty="0" err="1"/>
              <a:t>unclustered</a:t>
            </a:r>
            <a:r>
              <a:rPr lang="en-US" dirty="0"/>
              <a:t> data mining techniques, which were not analyzed in depth. This limited focus might overlook potentially valuable insights and innovative approaches that fall outside the mainstream machine learning cluster, restricting the diversity of methodologies considered.</a:t>
            </a:r>
            <a:endParaRPr lang="en-IN" dirty="0"/>
          </a:p>
          <a:p>
            <a:pPr lvl="0" algn="just"/>
            <a:r>
              <a:rPr lang="en-US" dirty="0"/>
              <a:t>Narrow Algorithmic Scope: While the existing system identified Artificial Neural Networks (ANNs) and Random Forests as the most frequently employed algorithms, this narrow focus may lead to an underrepresentation of other promising techniques. Algorithms such as Support Vector Machines (SVM), Gradient Boosting, and ensemble methods, which could offer significant advantages in certain contexts, might not have been explored comprehensively.</a:t>
            </a:r>
            <a:endParaRPr lang="en-IN" dirty="0"/>
          </a:p>
          <a:p>
            <a:pPr algn="just"/>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fontScale="85000" lnSpcReduction="20000"/>
          </a:bodyPr>
          <a:lstStyle/>
          <a:p>
            <a:pPr lvl="0" algn="just"/>
            <a:r>
              <a:rPr lang="en-US" dirty="0"/>
              <a:t>Overemphasis on Credit Card Fraud: The review primarily centered on detecting credit card fraud, which, while critical, may not represent the full spectrum of fraud types in the e-commerce domain. This emphasis could result in a skewed understanding of the overall landscape, potentially neglecting other forms of fraud, such as account takeover, identity theft, or synthetic fraud.</a:t>
            </a:r>
            <a:endParaRPr lang="en-IN" dirty="0"/>
          </a:p>
          <a:p>
            <a:pPr lvl="0" algn="just"/>
            <a:r>
              <a:rPr lang="en-US" dirty="0"/>
              <a:t>Lack of Real-World Data Evaluation: The articles reviewed in the existing system often rely on academic or synthetic datasets, which may not fully capture the complexity and variability of real-world e-commerce fraud scenarios. This limitation could impact the generalizability of the findings and the practical applicability of the recommended algorithms.</a:t>
            </a:r>
            <a:endParaRPr lang="en-IN" dirty="0"/>
          </a:p>
          <a:p>
            <a:pPr algn="just"/>
            <a:endParaRPr lang="en-IN" dirty="0"/>
          </a:p>
        </p:txBody>
      </p:sp>
    </p:spTree>
    <p:extLst>
      <p:ext uri="{BB962C8B-B14F-4D97-AF65-F5344CB8AC3E}">
        <p14:creationId xmlns:p14="http://schemas.microsoft.com/office/powerpoint/2010/main" val="181114556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fontScale="77500" lnSpcReduction="20000"/>
          </a:bodyPr>
          <a:lstStyle/>
          <a:p>
            <a:pPr lvl="0" algn="just"/>
            <a:r>
              <a:rPr lang="en-US" dirty="0"/>
              <a:t>Static Analysis without Real-Time Considerations: The existing system's approach primarily involved a static review of past literature, which might not fully account for the dynamic nature of e-commerce fraud. Fraud patterns and techniques evolve rapidly, and a system that does not incorporate real-time data or adaptive learning may become outdated or less effective over time.</a:t>
            </a:r>
            <a:endParaRPr lang="en-IN" dirty="0"/>
          </a:p>
          <a:p>
            <a:pPr algn="just"/>
            <a:endParaRPr lang="en-IN" dirty="0"/>
          </a:p>
          <a:p>
            <a:pPr lvl="0" algn="just"/>
            <a:r>
              <a:rPr lang="en-US" dirty="0"/>
              <a:t>Potential Bias in Article Selection: The PRISMA methodology, while systematic, may still introduce selection bias based on the criteria used to identify relevant articles. This could result in the exclusion of significant studies that employ unconventional or emerging techniques, limiting the breadth of the analysis.</a:t>
            </a:r>
            <a:endParaRPr lang="en-IN" dirty="0"/>
          </a:p>
          <a:p>
            <a:pPr algn="just"/>
            <a:endParaRPr lang="en-IN" dirty="0"/>
          </a:p>
        </p:txBody>
      </p:sp>
    </p:spTree>
    <p:extLst>
      <p:ext uri="{BB962C8B-B14F-4D97-AF65-F5344CB8AC3E}">
        <p14:creationId xmlns:p14="http://schemas.microsoft.com/office/powerpoint/2010/main" val="269159674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fontScale="85000" lnSpcReduction="20000"/>
          </a:bodyPr>
          <a:lstStyle/>
          <a:p>
            <a:pPr lvl="0" algn="just"/>
            <a:r>
              <a:rPr lang="en-US" dirty="0"/>
              <a:t>Absence of Practical Implementation Insights: The literature review focused on theoretical and academic studies, which might not provide sufficient insights into the practical challenges of implementing these algorithms in real-world e-commerce environments. Factors such as computational efficiency, scalability, and integration with existing systems were likely underexplored.</a:t>
            </a:r>
            <a:endParaRPr lang="en-IN" dirty="0"/>
          </a:p>
          <a:p>
            <a:pPr lvl="0" algn="just"/>
            <a:r>
              <a:rPr lang="en-US" dirty="0"/>
              <a:t>Generalization Issues: Given the diversity of e-commerce platforms, customer behaviors, and transaction patterns, the findings from the reviewed articles may not generalize well across different contexts. The system might fail to address the specific needs or challenges faced by smaller or niche e-commerce platforms.</a:t>
            </a:r>
            <a:endParaRPr lang="en-IN" dirty="0"/>
          </a:p>
          <a:p>
            <a:pPr algn="just"/>
            <a:endParaRPr lang="en-IN" dirty="0"/>
          </a:p>
        </p:txBody>
      </p:sp>
    </p:spTree>
    <p:extLst>
      <p:ext uri="{BB962C8B-B14F-4D97-AF65-F5344CB8AC3E}">
        <p14:creationId xmlns:p14="http://schemas.microsoft.com/office/powerpoint/2010/main" val="337288762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PROPOSED SYSTEM</a:t>
            </a:r>
            <a:endParaRPr lang="en-US" dirty="0"/>
          </a:p>
        </p:txBody>
      </p:sp>
      <p:sp>
        <p:nvSpPr>
          <p:cNvPr id="3" name="Content Placeholder 2"/>
          <p:cNvSpPr>
            <a:spLocks noGrp="1"/>
          </p:cNvSpPr>
          <p:nvPr>
            <p:ph sz="quarter" idx="1"/>
          </p:nvPr>
        </p:nvSpPr>
        <p:spPr/>
        <p:txBody>
          <a:bodyPr>
            <a:normAutofit lnSpcReduction="10000"/>
          </a:bodyPr>
          <a:lstStyle/>
          <a:p>
            <a:pPr lvl="0" algn="just"/>
            <a:r>
              <a:rPr lang="en-US" dirty="0"/>
              <a:t>The proposed system for e-commerce fraud detection is designed to address the evolving challenges of identifying fraudulent transactions with greater accuracy and efficiency. This system is built using Python as the core programming language, with the frontend developed using HTML, CSS, and JavaScript to ensure a user-friendly interface. The Flask web framework is utilized to facilitate seamless integration between the backend and frontend, providing a cohesive and responsive user experience.</a:t>
            </a:r>
            <a:endParaRPr lang="en-IN" dirty="0"/>
          </a:p>
          <a:p>
            <a:pPr algn="just"/>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lnSpcReduction="10000"/>
          </a:bodyPr>
          <a:lstStyle/>
          <a:p>
            <a:pPr lvl="0" algn="just"/>
            <a:r>
              <a:rPr lang="en-US" dirty="0"/>
              <a:t>The system employs two advanced machine learning models: a Stacking Classifier and an XGB Classifier. The Stacking Classifier, known for its ability to combine the strengths of multiple algorithms, is implemented to enhance the detection accuracy by leveraging the complementary performance of different models. The XGB (Extreme Gradient Boosting) Classifier, recognized for its high performance in classification tasks, is also integrated into the system to further boost its predictive capabilities.</a:t>
            </a:r>
            <a:endParaRPr lang="en-IN" dirty="0"/>
          </a:p>
          <a:p>
            <a:pPr algn="just"/>
            <a:endParaRPr lang="en-IN" dirty="0"/>
          </a:p>
        </p:txBody>
      </p:sp>
    </p:spTree>
    <p:extLst>
      <p:ext uri="{BB962C8B-B14F-4D97-AF65-F5344CB8AC3E}">
        <p14:creationId xmlns:p14="http://schemas.microsoft.com/office/powerpoint/2010/main" val="246183237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fontScale="92500" lnSpcReduction="20000"/>
          </a:bodyPr>
          <a:lstStyle/>
          <a:p>
            <a:pPr lvl="0" algn="just"/>
            <a:r>
              <a:rPr lang="en-US" dirty="0"/>
              <a:t>A synthetic dataset comprising 23,634 records is generated using Python's Faker library and custom logic. This dataset is crafted to simulate realistic transaction patterns and fraudulent scenarios, providing a robust foundation for training and testing the machine learning models. The dataset includes 16 features, such as Transaction ID, Customer ID, Transaction Amount, Payment Method, and a binary indicator for fraudulent activity. These features are carefully selected to capture the essential aspects of both legitimate and fraudulent transactions, enabling the models to identify subtle patterns indicative of fraud.</a:t>
            </a:r>
            <a:endParaRPr lang="en-IN" dirty="0"/>
          </a:p>
          <a:p>
            <a:pPr algn="just"/>
            <a:endParaRPr lang="en-IN" dirty="0"/>
          </a:p>
        </p:txBody>
      </p:sp>
    </p:spTree>
    <p:extLst>
      <p:ext uri="{BB962C8B-B14F-4D97-AF65-F5344CB8AC3E}">
        <p14:creationId xmlns:p14="http://schemas.microsoft.com/office/powerpoint/2010/main" val="307236693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lnSpcReduction="10000"/>
          </a:bodyPr>
          <a:lstStyle/>
          <a:p>
            <a:pPr lvl="0" algn="just"/>
            <a:r>
              <a:rPr lang="en-US" dirty="0"/>
              <a:t>The proposed system is designed with a focus on scalability and adaptability, allowing it to be applied across different e-commerce platforms with varying transaction volumes and customer demographics. By leveraging state-of-the-art machine learning techniques and a carefully curated dataset, the system aims to provide a sophisticated tool for detecting fraudulent activities in real-time, thereby enhancing the security and trustworthiness of online transactions.</a:t>
            </a:r>
            <a:endParaRPr lang="en-IN" dirty="0"/>
          </a:p>
          <a:p>
            <a:pPr algn="just"/>
            <a:endParaRPr lang="en-IN" dirty="0"/>
          </a:p>
        </p:txBody>
      </p:sp>
    </p:spTree>
    <p:extLst>
      <p:ext uri="{BB962C8B-B14F-4D97-AF65-F5344CB8AC3E}">
        <p14:creationId xmlns:p14="http://schemas.microsoft.com/office/powerpoint/2010/main" val="400249450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ADVANTAGES OF PROPOSED SYSTEM</a:t>
            </a:r>
            <a:endParaRPr lang="en-US" dirty="0"/>
          </a:p>
        </p:txBody>
      </p:sp>
      <p:sp>
        <p:nvSpPr>
          <p:cNvPr id="3" name="Content Placeholder 2"/>
          <p:cNvSpPr>
            <a:spLocks noGrp="1"/>
          </p:cNvSpPr>
          <p:nvPr>
            <p:ph sz="quarter" idx="1"/>
          </p:nvPr>
        </p:nvSpPr>
        <p:spPr/>
        <p:txBody>
          <a:bodyPr>
            <a:normAutofit fontScale="77500" lnSpcReduction="20000"/>
          </a:bodyPr>
          <a:lstStyle/>
          <a:p>
            <a:pPr lvl="0" algn="just"/>
            <a:r>
              <a:rPr lang="en-US" dirty="0"/>
              <a:t>High Accuracy in Fraud Detection: The proposed system leverages advanced machine learning models, including the Stacking Classifier and XGB Classifier, which have demonstrated high accuracy in detecting fraudulent transactions. With train and test accuracy scores of 100% and 99% for the Stacking Classifier and 96% and 95% for the XGB Classifier, the system is highly effective in identifying fraudulent activities with minimal false positives and false negatives.</a:t>
            </a:r>
            <a:endParaRPr lang="en-IN" dirty="0"/>
          </a:p>
          <a:p>
            <a:pPr lvl="0" algn="just"/>
            <a:r>
              <a:rPr lang="en-US" dirty="0"/>
              <a:t>Robust Synthetic Dataset: The use of a synthetic dataset generated with Python's Faker library and custom logic ensures that the system is trained on a wide range of realistic transaction scenarios. This enables the models to generalize well and detect fraud even in cases that differ slightly from the training data, enhancing the system's robustness.</a:t>
            </a:r>
            <a:endParaRPr lang="en-IN" dirty="0"/>
          </a:p>
          <a:p>
            <a:pPr algn="just"/>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fontScale="92500" lnSpcReduction="20000"/>
          </a:bodyPr>
          <a:lstStyle/>
          <a:p>
            <a:pPr lvl="0" algn="just"/>
            <a:r>
              <a:rPr lang="en-US" dirty="0"/>
              <a:t>Scalability and Adaptability: Designed with scalability in mind, the proposed system can be adapted to various e-commerce platforms regardless of their size or transaction volume. Its architecture allows for easy integration into existing systems, making it suitable for both small businesses and large enterprises.</a:t>
            </a:r>
            <a:endParaRPr lang="en-IN" dirty="0"/>
          </a:p>
          <a:p>
            <a:pPr lvl="0" algn="just"/>
            <a:r>
              <a:rPr lang="en-US" dirty="0"/>
              <a:t>Real-Time Fraud Detection: The system is built to operate in real-time, providing immediate analysis and classification of transactions. This allows for prompt identification of fraudulent activities, enabling e-commerce platforms to take swift action to prevent financial losses and protect customers.</a:t>
            </a:r>
            <a:endParaRPr lang="en-IN" dirty="0"/>
          </a:p>
          <a:p>
            <a:pPr algn="just"/>
            <a:endParaRPr lang="en-IN" dirty="0"/>
          </a:p>
        </p:txBody>
      </p:sp>
    </p:spTree>
    <p:extLst>
      <p:ext uri="{BB962C8B-B14F-4D97-AF65-F5344CB8AC3E}">
        <p14:creationId xmlns:p14="http://schemas.microsoft.com/office/powerpoint/2010/main" val="193347459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fontScale="85000" lnSpcReduction="20000"/>
          </a:bodyPr>
          <a:lstStyle/>
          <a:p>
            <a:pPr lvl="0" algn="just"/>
            <a:r>
              <a:rPr lang="en-US" dirty="0"/>
              <a:t>Comprehensive Feature Set: The dataset used in the system includes 16 carefully selected features that capture essential details of each transaction, such as Transaction Amount, Payment Method, and Customer Location. This comprehensive feature set allows the models to analyze multiple dimensions of a transaction, improving the accuracy and reliability of fraud detection.</a:t>
            </a:r>
            <a:endParaRPr lang="en-IN" dirty="0"/>
          </a:p>
          <a:p>
            <a:pPr lvl="0" algn="just"/>
            <a:r>
              <a:rPr lang="en-US" dirty="0"/>
              <a:t>Enhanced Security and Trust: By providing an effective tool for detecting fraudulent transactions, the proposed system enhances the overall security of e-commerce platforms. This not only helps prevent financial losses but also builds trust with customers, as they can be assured that their transactions are being monitored for fraudulent activity.</a:t>
            </a:r>
            <a:endParaRPr lang="en-IN" dirty="0"/>
          </a:p>
          <a:p>
            <a:pPr algn="just"/>
            <a:endParaRPr lang="en-IN" dirty="0"/>
          </a:p>
        </p:txBody>
      </p:sp>
    </p:spTree>
    <p:extLst>
      <p:ext uri="{BB962C8B-B14F-4D97-AF65-F5344CB8AC3E}">
        <p14:creationId xmlns:p14="http://schemas.microsoft.com/office/powerpoint/2010/main" val="84470444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fontScale="92500" lnSpcReduction="20000"/>
          </a:bodyPr>
          <a:lstStyle/>
          <a:p>
            <a:pPr lvl="0" algn="just"/>
            <a:r>
              <a:rPr lang="en-US" dirty="0"/>
              <a:t>User-Friendly Interface: The system's frontend, developed using HTML, CSS, and JavaScript, ensures a user-friendly interface that is easy to navigate. This makes it accessible to a wide range of users, from technical staff to non-technical administrators, ensuring that the system can be effectively utilized across different roles within an organization.</a:t>
            </a:r>
            <a:endParaRPr lang="en-IN" dirty="0"/>
          </a:p>
          <a:p>
            <a:pPr lvl="0" algn="just"/>
            <a:r>
              <a:rPr lang="en-US" dirty="0"/>
              <a:t>Flexible Integration: Utilizing the Flask web framework, the system is designed for flexible integration with various e-commerce platforms and back-end systems. This allows businesses to incorporate the fraud detection system into their existing workflows with minimal disruption.</a:t>
            </a:r>
            <a:endParaRPr lang="en-IN" dirty="0"/>
          </a:p>
          <a:p>
            <a:pPr algn="just"/>
            <a:endParaRPr lang="en-IN" dirty="0"/>
          </a:p>
        </p:txBody>
      </p:sp>
    </p:spTree>
    <p:extLst>
      <p:ext uri="{BB962C8B-B14F-4D97-AF65-F5344CB8AC3E}">
        <p14:creationId xmlns:p14="http://schemas.microsoft.com/office/powerpoint/2010/main" val="349933718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fontScale="92500" lnSpcReduction="20000"/>
          </a:bodyPr>
          <a:lstStyle/>
          <a:p>
            <a:pPr lvl="0" algn="just"/>
            <a:r>
              <a:rPr lang="en-US" dirty="0"/>
              <a:t>Customizable and Extendable: The system's architecture is designed to be customizable and extendable, allowing for future enhancements and the addition of new features as needed. This ensures that the system can evolve in response to emerging fraud patterns and technological advancements.</a:t>
            </a:r>
            <a:endParaRPr lang="en-IN" dirty="0"/>
          </a:p>
          <a:p>
            <a:pPr lvl="0" algn="just"/>
            <a:r>
              <a:rPr lang="en-US" dirty="0"/>
              <a:t>Cost-Effective Solution: By using open-source tools and technologies such as Python, Flask, and the Faker library, the proposed system offers a cost-effective solution for e-commerce fraud detection. This makes it accessible to a wide range of businesses, including those with limited resources.</a:t>
            </a:r>
            <a:endParaRPr lang="en-IN" dirty="0"/>
          </a:p>
          <a:p>
            <a:pPr algn="just"/>
            <a:endParaRPr lang="en-IN" dirty="0"/>
          </a:p>
        </p:txBody>
      </p:sp>
    </p:spTree>
    <p:extLst>
      <p:ext uri="{BB962C8B-B14F-4D97-AF65-F5344CB8AC3E}">
        <p14:creationId xmlns:p14="http://schemas.microsoft.com/office/powerpoint/2010/main" val="290830295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ARCHITECTURE</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863" y="1771650"/>
            <a:ext cx="7534275" cy="331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HARDWARE REQUIREMENTS</a:t>
            </a:r>
            <a:endParaRPr lang="en-US" dirty="0"/>
          </a:p>
        </p:txBody>
      </p:sp>
      <p:sp>
        <p:nvSpPr>
          <p:cNvPr id="3" name="Content Placeholder 2"/>
          <p:cNvSpPr>
            <a:spLocks noGrp="1"/>
          </p:cNvSpPr>
          <p:nvPr>
            <p:ph sz="quarter" idx="1"/>
          </p:nvPr>
        </p:nvSpPr>
        <p:spPr/>
        <p:txBody>
          <a:bodyPr/>
          <a:lstStyle/>
          <a:p>
            <a:pPr lvl="0"/>
            <a:r>
              <a:rPr lang="en-GB" dirty="0"/>
              <a:t>System			: 	Pentium i3 Processor.</a:t>
            </a:r>
            <a:endParaRPr lang="en-IN" dirty="0"/>
          </a:p>
          <a:p>
            <a:pPr lvl="0"/>
            <a:r>
              <a:rPr lang="en-GB" dirty="0"/>
              <a:t>Hard Disk 		</a:t>
            </a:r>
            <a:r>
              <a:rPr lang="en-GB" dirty="0" smtClean="0"/>
              <a:t>: </a:t>
            </a:r>
            <a:r>
              <a:rPr lang="en-GB" dirty="0"/>
              <a:t>	500 GB.</a:t>
            </a:r>
            <a:endParaRPr lang="en-IN" dirty="0"/>
          </a:p>
          <a:p>
            <a:pPr lvl="0"/>
            <a:r>
              <a:rPr lang="en-GB" dirty="0"/>
              <a:t>Monitor			: 	15’’ LED</a:t>
            </a:r>
            <a:endParaRPr lang="en-IN" dirty="0"/>
          </a:p>
          <a:p>
            <a:pPr lvl="0"/>
            <a:r>
              <a:rPr lang="en-GB" dirty="0"/>
              <a:t>Input Devices		: 	Keyboard, Mouse</a:t>
            </a:r>
            <a:endParaRPr lang="en-IN" dirty="0"/>
          </a:p>
          <a:p>
            <a:pPr lvl="0"/>
            <a:r>
              <a:rPr lang="en-GB" dirty="0"/>
              <a:t>Ram			</a:t>
            </a:r>
            <a:r>
              <a:rPr lang="en-GB" dirty="0" smtClean="0"/>
              <a:t>:</a:t>
            </a:r>
            <a:r>
              <a:rPr lang="en-GB" dirty="0"/>
              <a:t>	4 GB</a:t>
            </a:r>
            <a:endParaRPr lang="en-IN" dirty="0"/>
          </a:p>
          <a:p>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REQUIREMENTS</a:t>
            </a:r>
            <a:endParaRPr lang="en-US" dirty="0"/>
          </a:p>
        </p:txBody>
      </p:sp>
      <p:sp>
        <p:nvSpPr>
          <p:cNvPr id="3" name="Content Placeholder 2"/>
          <p:cNvSpPr>
            <a:spLocks noGrp="1"/>
          </p:cNvSpPr>
          <p:nvPr>
            <p:ph sz="quarter" idx="1"/>
          </p:nvPr>
        </p:nvSpPr>
        <p:spPr>
          <a:xfrm>
            <a:off x="381000" y="1600200"/>
            <a:ext cx="8458200" cy="4495800"/>
          </a:xfrm>
        </p:spPr>
        <p:txBody>
          <a:bodyPr/>
          <a:lstStyle/>
          <a:p>
            <a:pPr lvl="0"/>
            <a:r>
              <a:rPr lang="en-US" dirty="0"/>
              <a:t>Operating System 	</a:t>
            </a:r>
            <a:r>
              <a:rPr lang="en-US" dirty="0" smtClean="0"/>
              <a:t>: 	Windows </a:t>
            </a:r>
            <a:r>
              <a:rPr lang="en-US" dirty="0"/>
              <a:t>10 / 11.</a:t>
            </a:r>
            <a:endParaRPr lang="en-IN" dirty="0"/>
          </a:p>
          <a:p>
            <a:pPr lvl="0"/>
            <a:r>
              <a:rPr lang="en-US" dirty="0"/>
              <a:t>Coding Language	</a:t>
            </a:r>
            <a:r>
              <a:rPr lang="en-US" dirty="0" smtClean="0"/>
              <a:t>:	Python</a:t>
            </a:r>
            <a:r>
              <a:rPr lang="en-US" dirty="0"/>
              <a:t>.</a:t>
            </a:r>
            <a:endParaRPr lang="en-IN" dirty="0"/>
          </a:p>
          <a:p>
            <a:pPr lvl="0"/>
            <a:r>
              <a:rPr lang="en-US" dirty="0"/>
              <a:t>Web Framework	</a:t>
            </a:r>
            <a:r>
              <a:rPr lang="en-US" dirty="0" smtClean="0"/>
              <a:t>:	Flask</a:t>
            </a:r>
            <a:r>
              <a:rPr lang="en-US" dirty="0"/>
              <a:t>.</a:t>
            </a:r>
            <a:endParaRPr lang="en-IN" dirty="0"/>
          </a:p>
          <a:p>
            <a:pPr lvl="0"/>
            <a:r>
              <a:rPr lang="en-US" dirty="0"/>
              <a:t>Frontend			</a:t>
            </a:r>
            <a:r>
              <a:rPr lang="en-US" dirty="0" smtClean="0"/>
              <a:t>: </a:t>
            </a:r>
            <a:r>
              <a:rPr lang="en-US" dirty="0"/>
              <a:t>	HTML, CSS, JavaScript.</a:t>
            </a:r>
            <a:endParaRPr lang="en-IN" dirty="0"/>
          </a:p>
          <a:p>
            <a:pPr marL="0" indent="0">
              <a:buNone/>
            </a:pP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a:t>
            </a:r>
            <a:endParaRPr lang="en-US" dirty="0"/>
          </a:p>
        </p:txBody>
      </p:sp>
      <p:sp>
        <p:nvSpPr>
          <p:cNvPr id="3" name="Content Placeholder 2"/>
          <p:cNvSpPr>
            <a:spLocks noGrp="1"/>
          </p:cNvSpPr>
          <p:nvPr>
            <p:ph sz="quarter" idx="1"/>
          </p:nvPr>
        </p:nvSpPr>
        <p:spPr/>
        <p:txBody>
          <a:bodyPr/>
          <a:lstStyle/>
          <a:p>
            <a:pPr algn="just"/>
            <a:r>
              <a:rPr lang="en-US" dirty="0"/>
              <a:t>Abed </a:t>
            </a:r>
            <a:r>
              <a:rPr lang="en-US" dirty="0" err="1"/>
              <a:t>Mutemi</a:t>
            </a:r>
            <a:r>
              <a:rPr lang="en-US" dirty="0"/>
              <a:t>, Fernando </a:t>
            </a:r>
            <a:r>
              <a:rPr lang="en-US" dirty="0" err="1"/>
              <a:t>Bacao</a:t>
            </a:r>
            <a:r>
              <a:rPr lang="en-US" dirty="0"/>
              <a:t>, “E-Commerce Fraud Detection Based on Machine Learning Techniques: Systematic Literature Review”, Big Data Mining and Analytics ( Volume: 7, Issue: 2, June 2024), IEEE Journal 2024.</a:t>
            </a:r>
            <a:endParaRPr lang="en-IN" dirty="0"/>
          </a:p>
          <a:p>
            <a:pPr algn="just"/>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7</TotalTime>
  <Words>2066</Words>
  <Application>Microsoft Office PowerPoint</Application>
  <PresentationFormat>On-screen Show (4:3)</PresentationFormat>
  <Paragraphs>54</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Median</vt:lpstr>
      <vt:lpstr>E-Commerce Fraud Detection Based on Machine Learning</vt:lpstr>
      <vt:lpstr>ABSTRACT</vt:lpstr>
      <vt:lpstr>PowerPoint Presentation</vt:lpstr>
      <vt:lpstr>EXISTING SYSTEM</vt:lpstr>
      <vt:lpstr>PowerPoint Presentation</vt:lpstr>
      <vt:lpstr>PowerPoint Presentation</vt:lpstr>
      <vt:lpstr>PowerPoint Presentation</vt:lpstr>
      <vt:lpstr>DISADVANTAGES OF EXISTING SYSTEM</vt:lpstr>
      <vt:lpstr>PowerPoint Presentation</vt:lpstr>
      <vt:lpstr>PowerPoint Presentation</vt:lpstr>
      <vt:lpstr>PowerPoint Presentation</vt:lpstr>
      <vt:lpstr>PROPOSED SYSTEM</vt:lpstr>
      <vt:lpstr>PowerPoint Presentation</vt:lpstr>
      <vt:lpstr>PowerPoint Presentation</vt:lpstr>
      <vt:lpstr>PowerPoint Presentation</vt:lpstr>
      <vt:lpstr>ADVANTAGES OF PROPOSED SYSTEM</vt:lpstr>
      <vt:lpstr>PowerPoint Presentation</vt:lpstr>
      <vt:lpstr>PowerPoint Presentation</vt:lpstr>
      <vt:lpstr>PowerPoint Presentation</vt:lpstr>
      <vt:lpstr>PowerPoint Presentation</vt:lpstr>
      <vt:lpstr>SYSTEM ARCHITECTURE</vt:lpstr>
      <vt:lpstr>HARDWARE REQUIREMENTS</vt:lpstr>
      <vt:lpstr>SOFTWARE REQUIREMENTS</vt:lpstr>
      <vt:lpstr>REFERENCE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JPINFOTECH</cp:lastModifiedBy>
  <cp:revision>33</cp:revision>
  <dcterms:created xsi:type="dcterms:W3CDTF">2006-08-16T00:00:00Z</dcterms:created>
  <dcterms:modified xsi:type="dcterms:W3CDTF">2024-09-21T07:09:49Z</dcterms:modified>
</cp:coreProperties>
</file>